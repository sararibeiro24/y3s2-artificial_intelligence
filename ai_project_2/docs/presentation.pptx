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72" r:id="rId1"/>
  </p:sldMasterIdLst>
  <p:notesMasterIdLst>
    <p:notesMasterId r:id="rId19"/>
  </p:notesMasterIdLst>
  <p:handoutMasterIdLst>
    <p:handoutMasterId r:id="rId20"/>
  </p:handoutMasterIdLst>
  <p:sldIdLst>
    <p:sldId id="353" r:id="rId2"/>
    <p:sldId id="359" r:id="rId3"/>
    <p:sldId id="360" r:id="rId4"/>
    <p:sldId id="361" r:id="rId5"/>
    <p:sldId id="370" r:id="rId6"/>
    <p:sldId id="371" r:id="rId7"/>
    <p:sldId id="372" r:id="rId8"/>
    <p:sldId id="373" r:id="rId9"/>
    <p:sldId id="377" r:id="rId10"/>
    <p:sldId id="378" r:id="rId11"/>
    <p:sldId id="379" r:id="rId12"/>
    <p:sldId id="380" r:id="rId13"/>
    <p:sldId id="375" r:id="rId14"/>
    <p:sldId id="369" r:id="rId15"/>
    <p:sldId id="374" r:id="rId16"/>
    <p:sldId id="362" r:id="rId17"/>
    <p:sldId id="363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arlos Manuel Milheiro de Oliveira Pinto Soares" initials="CMMdOPS" lastIdx="14" clrIdx="0">
    <p:extLst>
      <p:ext uri="{19B8F6BF-5375-455C-9EA6-DF929625EA0E}">
        <p15:presenceInfo xmlns:p15="http://schemas.microsoft.com/office/powerpoint/2012/main" userId="ad9450a8-fb89-4aff-9c31-a91c81ef7610" providerId="Windows Live"/>
      </p:ext>
    </p:extLst>
  </p:cmAuthor>
  <p:cmAuthor id="2" name="Carlos Manuel Milheiro de Oliveira Pinto Soares" initials="CMMdOPS [2]" lastIdx="12" clrIdx="1">
    <p:extLst>
      <p:ext uri="{19B8F6BF-5375-455C-9EA6-DF929625EA0E}">
        <p15:presenceInfo xmlns:p15="http://schemas.microsoft.com/office/powerpoint/2012/main" userId="S::csoares@pbs.up.pt::ad9450a8-fb89-4aff-9c31-a91c81ef7610" providerId="AD"/>
      </p:ext>
    </p:extLst>
  </p:cmAuthor>
  <p:cmAuthor id="3" name="Carlos Soares" initials="CS" lastIdx="7" clrIdx="2">
    <p:extLst>
      <p:ext uri="{19B8F6BF-5375-455C-9EA6-DF929625EA0E}">
        <p15:presenceInfo xmlns:p15="http://schemas.microsoft.com/office/powerpoint/2012/main" userId="S::up235847@up.pt::58cfb87a-9ada-478d-b2aa-47c3b05f2ece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3630" autoAdjust="0"/>
  </p:normalViewPr>
  <p:slideViewPr>
    <p:cSldViewPr snapToGrid="0" snapToObjects="1">
      <p:cViewPr varScale="1">
        <p:scale>
          <a:sx n="103" d="100"/>
          <a:sy n="103" d="100"/>
        </p:scale>
        <p:origin x="1890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2132BA-7F90-C045-AC3C-D088D737BC85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6F13E1-8011-274F-A832-B81829A48D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44154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24605C-FF3E-654F-890C-85C3E6C4269C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DA452D-C759-EA45-A61C-6757CDAD72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673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DA452D-C759-EA45-A61C-6757CDAD729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8901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DA452D-C759-EA45-A61C-6757CDAD729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1649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28131"/>
            <a:ext cx="7772400" cy="1470025"/>
          </a:xfrm>
        </p:spPr>
        <p:txBody>
          <a:bodyPr/>
          <a:lstStyle/>
          <a:p>
            <a:r>
              <a:rPr lang="pt-PT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184386"/>
            <a:ext cx="7772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133600" cy="365125"/>
          </a:xfrm>
        </p:spPr>
        <p:txBody>
          <a:bodyPr/>
          <a:lstStyle/>
          <a:p>
            <a:fld id="{11E87A6F-16E5-2444-8E01-52483A43058D}" type="datetime1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87560" y="6492875"/>
            <a:ext cx="4188543" cy="365125"/>
          </a:xfrm>
        </p:spPr>
        <p:txBody>
          <a:bodyPr/>
          <a:lstStyle/>
          <a:p>
            <a:r>
              <a:rPr lang="en-US"/>
              <a:t>IART @ L.EIC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03026" y="6492875"/>
            <a:ext cx="2133600" cy="365125"/>
          </a:xfrm>
        </p:spPr>
        <p:txBody>
          <a:bodyPr/>
          <a:lstStyle/>
          <a:p>
            <a:fld id="{DACF91DC-9B2A-DA46-8614-FC490D3FF29A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 descr="logo_UP_FEUP_monocromático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285953"/>
            <a:ext cx="2015644" cy="66469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89148CA-9598-5A4A-A7FC-FEA6BD71DDE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t="9902" b="15599"/>
          <a:stretch/>
        </p:blipFill>
        <p:spPr>
          <a:xfrm>
            <a:off x="6019800" y="116855"/>
            <a:ext cx="2502310" cy="1002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500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28131"/>
            <a:ext cx="7772400" cy="1470025"/>
          </a:xfrm>
        </p:spPr>
        <p:txBody>
          <a:bodyPr/>
          <a:lstStyle/>
          <a:p>
            <a:r>
              <a:rPr lang="pt-PT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184386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PT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ABE37-C354-7843-8D1B-82AD8732054D}" type="datetime1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IART @ L.EIC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91DC-9B2A-DA46-8614-FC490D3FF29A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logo_UP_FEUP_monocromático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5350364"/>
            <a:ext cx="2027668" cy="668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595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err="1"/>
              <a:t>Click</a:t>
            </a:r>
            <a:r>
              <a:rPr lang="pt-PT" dirty="0"/>
              <a:t> to </a:t>
            </a:r>
            <a:r>
              <a:rPr lang="pt-PT" dirty="0" err="1"/>
              <a:t>edit</a:t>
            </a:r>
            <a:r>
              <a:rPr lang="pt-PT" dirty="0"/>
              <a:t> </a:t>
            </a:r>
            <a:r>
              <a:rPr lang="pt-PT" dirty="0" err="1"/>
              <a:t>Master</a:t>
            </a:r>
            <a:r>
              <a:rPr lang="pt-PT" dirty="0"/>
              <a:t> </a:t>
            </a:r>
            <a:r>
              <a:rPr lang="pt-PT" dirty="0" err="1"/>
              <a:t>title</a:t>
            </a:r>
            <a:r>
              <a:rPr lang="pt-PT" dirty="0"/>
              <a:t> </a:t>
            </a:r>
            <a:r>
              <a:rPr lang="pt-PT" dirty="0" err="1"/>
              <a:t>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C8EF8-12EF-244B-8AD9-ADF3AF7DF6B1}" type="datetime1">
              <a:rPr lang="en-US" smtClean="0"/>
              <a:t>5/14/2026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91DC-9B2A-DA46-8614-FC490D3FF29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C3F4CE35-700E-D24D-BFFE-3A46495E0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87560" y="6492875"/>
            <a:ext cx="4188543" cy="365125"/>
          </a:xfrm>
        </p:spPr>
        <p:txBody>
          <a:bodyPr/>
          <a:lstStyle/>
          <a:p>
            <a:r>
              <a:rPr lang="en-US"/>
              <a:t>IART @ L.EIC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8444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PT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E1FB-A965-7646-B21B-EA92A716BFB6}" type="datetime1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IART @ L.EIC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91DC-9B2A-DA46-8614-FC490D3FF2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9601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562DD-2E3D-1046-8925-14B387B4EBE4}" type="datetime1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IART @ L.EIC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91DC-9B2A-DA46-8614-FC490D3FF2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6230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PT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B5E3E-DB9A-D44E-A77E-F04CA3810003}" type="datetime1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IART @ L.EIC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91DC-9B2A-DA46-8614-FC490D3FF2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9073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Click to edit Master title style</a:t>
            </a:r>
            <a:endParaRPr lang="en-US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50069CF2-EEBE-B943-855E-E4B9D86DC9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D3CC3B-8D39-4F4D-BF99-FB2D3A1E3AF3}" type="datetime1">
              <a:rPr lang="en-US" smtClean="0"/>
              <a:t>5/14/2026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E1244B59-E2B5-444D-B4DC-4AC3B4C849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49909" y="6492875"/>
            <a:ext cx="44638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IART @ L.EIC</a:t>
            </a:r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92CFB25-9124-B443-9B84-19A867D02B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CF91DC-9B2A-DA46-8614-FC490D3FF2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5386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A6A1B-DA9C-F04B-AB4D-14C78B78D751}" type="datetime1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IART @ L.EIC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91DC-9B2A-DA46-8614-FC490D3FF2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721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PT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ACD2A-FE21-F941-9181-60477F37902D}" type="datetime1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IART @ L.EIC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91DC-9B2A-DA46-8614-FC490D3FF2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6422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PT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PT"/>
              <a:t>Drag picture to placeholder or click icon to add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8DD4D-0F64-554F-821E-A588CA7F0791}" type="datetime1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IART @ L.EIC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91DC-9B2A-DA46-8614-FC490D3FF2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6076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3654A-3E1B-1642-984F-D85157AAB59A}" type="datetime1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IART @ L.EIC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91DC-9B2A-DA46-8614-FC490D3FF2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0422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PT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649C1-9FF8-D641-9274-7E16A33349D5}" type="datetime1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IART @ L.EIC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91DC-9B2A-DA46-8614-FC490D3FF2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4797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nteúdo geral">
  <p:cSld name="1_Conteúdo geral">
    <p:bg>
      <p:bgPr>
        <a:blipFill>
          <a:blip r:embed="rId2">
            <a:alphaModFix amt="15000"/>
          </a:blip>
          <a:stretch>
            <a:fillRect/>
          </a:stretch>
        </a:blip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"/>
          <p:cNvSpPr txBox="1"/>
          <p:nvPr/>
        </p:nvSpPr>
        <p:spPr>
          <a:xfrm>
            <a:off x="1417599" y="6335713"/>
            <a:ext cx="181018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u="none" strike="noStrike" cap="none">
                <a:solidFill>
                  <a:srgbClr val="9E9E9E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sz="1350"/>
          </a:p>
        </p:txBody>
      </p:sp>
      <p:sp>
        <p:nvSpPr>
          <p:cNvPr id="19" name="Google Shape;19;p12"/>
          <p:cNvSpPr txBox="1">
            <a:spLocks noGrp="1"/>
          </p:cNvSpPr>
          <p:nvPr>
            <p:ph type="title"/>
          </p:nvPr>
        </p:nvSpPr>
        <p:spPr>
          <a:xfrm>
            <a:off x="251222" y="53744"/>
            <a:ext cx="6427012" cy="854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25333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erdana"/>
              <a:buNone/>
              <a:defRPr sz="1800" b="1" i="0" u="none" strike="noStrike" cap="none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9pPr>
          </a:lstStyle>
          <a:p>
            <a:endParaRPr/>
          </a:p>
        </p:txBody>
      </p:sp>
      <p:sp>
        <p:nvSpPr>
          <p:cNvPr id="20" name="Google Shape;20;p12"/>
          <p:cNvSpPr txBox="1">
            <a:spLocks noGrp="1"/>
          </p:cNvSpPr>
          <p:nvPr>
            <p:ph type="body" idx="1"/>
          </p:nvPr>
        </p:nvSpPr>
        <p:spPr>
          <a:xfrm>
            <a:off x="250924" y="1052736"/>
            <a:ext cx="8641556" cy="51242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342900" marR="0" lvl="0" indent="-171450" algn="l" rtl="0">
              <a:lnSpc>
                <a:spcPct val="100000"/>
              </a:lnSpc>
              <a:spcBef>
                <a:spcPts val="451"/>
              </a:spcBef>
              <a:spcAft>
                <a:spcPts val="0"/>
              </a:spcAft>
              <a:buClr>
                <a:srgbClr val="373E47"/>
              </a:buClr>
              <a:buSzPts val="2400"/>
              <a:buFont typeface="Arial"/>
              <a:buNone/>
              <a:defRPr sz="1800" b="0" i="0" u="none" strike="noStrike" cap="none">
                <a:solidFill>
                  <a:srgbClr val="373E47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685800" marR="0" lvl="1" indent="-276225" algn="l" rtl="0">
              <a:lnSpc>
                <a:spcPct val="100000"/>
              </a:lnSpc>
              <a:spcBef>
                <a:spcPts val="451"/>
              </a:spcBef>
              <a:spcAft>
                <a:spcPts val="0"/>
              </a:spcAft>
              <a:buClr>
                <a:srgbClr val="FF6600"/>
              </a:buClr>
              <a:buSzPts val="2200"/>
              <a:buFont typeface="Noto Sans Symbols"/>
              <a:buChar char="▪"/>
              <a:defRPr sz="1500" b="0" i="0" u="none" strike="noStrike" cap="none">
                <a:solidFill>
                  <a:srgbClr val="373E47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028700" marR="0" lvl="2" indent="-257175" algn="l" rtl="0">
              <a:lnSpc>
                <a:spcPct val="100000"/>
              </a:lnSpc>
              <a:spcBef>
                <a:spcPts val="451"/>
              </a:spcBef>
              <a:spcAft>
                <a:spcPts val="0"/>
              </a:spcAft>
              <a:buClr>
                <a:srgbClr val="FF6600"/>
              </a:buClr>
              <a:buSzPts val="1800"/>
              <a:buFont typeface="Noto Sans Symbols"/>
              <a:buChar char="▪"/>
              <a:defRPr sz="1350" b="0" i="0" u="none" strike="noStrike" cap="none">
                <a:solidFill>
                  <a:srgbClr val="373E47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371600" marR="0" lvl="3" indent="-247650" algn="l" rtl="0">
              <a:lnSpc>
                <a:spcPct val="100000"/>
              </a:lnSpc>
              <a:spcBef>
                <a:spcPts val="451"/>
              </a:spcBef>
              <a:spcAft>
                <a:spcPts val="0"/>
              </a:spcAft>
              <a:buClr>
                <a:srgbClr val="FF6600"/>
              </a:buClr>
              <a:buSzPts val="1600"/>
              <a:buFont typeface="Noto Sans Symbols"/>
              <a:buChar char="▪"/>
              <a:defRPr sz="1200" b="0" i="0" u="none" strike="noStrike" cap="none">
                <a:solidFill>
                  <a:srgbClr val="373E47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1714500" marR="0" lvl="4" indent="-247650" algn="l" rtl="0">
              <a:lnSpc>
                <a:spcPct val="100000"/>
              </a:lnSpc>
              <a:spcBef>
                <a:spcPts val="451"/>
              </a:spcBef>
              <a:spcAft>
                <a:spcPts val="0"/>
              </a:spcAft>
              <a:buClr>
                <a:srgbClr val="FF6600"/>
              </a:buClr>
              <a:buSzPts val="1600"/>
              <a:buFont typeface="Noto Sans Symbols"/>
              <a:buChar char="▪"/>
              <a:defRPr sz="1200" b="0" i="0" u="none" strike="noStrike" cap="none">
                <a:solidFill>
                  <a:srgbClr val="373E47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057400" marR="0" lvl="5" indent="-25717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2400300" marR="0" lvl="6" indent="-25717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2743200" marR="0" lvl="7" indent="-25717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3086100" marR="0" lvl="8" indent="-25717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50081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7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572">
          <p15:clr>
            <a:srgbClr val="FBAE40"/>
          </p15:clr>
        </p15:guide>
        <p15:guide id="4" pos="6335">
          <p15:clr>
            <a:srgbClr val="FBAE40"/>
          </p15:clr>
        </p15:guide>
        <p15:guide id="5" pos="7469">
          <p15:clr>
            <a:srgbClr val="FBAE40"/>
          </p15:clr>
        </p15:guide>
        <p15:guide id="6" pos="211">
          <p15:clr>
            <a:srgbClr val="FBAE40"/>
          </p15:clr>
        </p15:guide>
        <p15:guide id="7" orient="horz" pos="28">
          <p15:clr>
            <a:srgbClr val="FBAE40"/>
          </p15:clr>
        </p15:guide>
        <p15:guide id="8" orient="horz" pos="216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2870"/>
            <a:ext cx="6940861" cy="1278217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0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AAA085-F8B6-C74F-A545-7650ED705A4F}" type="datetime1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9909" y="6492875"/>
            <a:ext cx="44638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IART @ L.EIC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CF91DC-9B2A-DA46-8614-FC490D3FF29A}" type="slidenum">
              <a:rPr lang="en-US" smtClean="0"/>
              <a:t>‹#›</a:t>
            </a:fld>
            <a:endParaRPr lang="en-US"/>
          </a:p>
        </p:txBody>
      </p:sp>
      <p:pic>
        <p:nvPicPr>
          <p:cNvPr id="11" name="Picture 10" descr="logo_UP_FEUP_monocromático.png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0861" y="293957"/>
            <a:ext cx="2239233" cy="738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244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84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5" r:id="rId13"/>
  </p:sldLayoutIdLst>
  <p:hf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5800" y="1328131"/>
            <a:ext cx="7772400" cy="1470025"/>
          </a:xfrm>
        </p:spPr>
        <p:txBody>
          <a:bodyPr>
            <a:normAutofit/>
          </a:bodyPr>
          <a:lstStyle/>
          <a:p>
            <a:r>
              <a:rPr lang="en-US" dirty="0" err="1"/>
              <a:t>projet</a:t>
            </a:r>
            <a:r>
              <a:rPr lang="en-US" dirty="0"/>
              <a:t> 2</a:t>
            </a:r>
            <a:br>
              <a:rPr lang="en-US" dirty="0"/>
            </a:br>
            <a:r>
              <a:rPr lang="en-US" dirty="0"/>
              <a:t>L.EIC – IART</a:t>
            </a:r>
            <a:endParaRPr lang="pt-PT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0D12EB-6D15-0DB7-BF29-13548910DE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184386"/>
            <a:ext cx="6400800" cy="1752600"/>
          </a:xfrm>
        </p:spPr>
        <p:txBody>
          <a:bodyPr/>
          <a:lstStyle/>
          <a:p>
            <a:r>
              <a:rPr lang="en-US" dirty="0"/>
              <a:t>Sim</a:t>
            </a:r>
            <a:r>
              <a:rPr lang="pt-PT" dirty="0"/>
              <a:t>ão Ribeiro</a:t>
            </a:r>
          </a:p>
          <a:p>
            <a:r>
              <a:rPr lang="pt-PT" dirty="0"/>
              <a:t>Deniz Günes</a:t>
            </a:r>
          </a:p>
          <a:p>
            <a:r>
              <a:rPr lang="pt-PT" dirty="0"/>
              <a:t>Sara Ribeiro</a:t>
            </a:r>
            <a:endParaRPr lang="en-PT" dirty="0"/>
          </a:p>
        </p:txBody>
      </p:sp>
    </p:spTree>
    <p:extLst>
      <p:ext uri="{BB962C8B-B14F-4D97-AF65-F5344CB8AC3E}">
        <p14:creationId xmlns:p14="http://schemas.microsoft.com/office/powerpoint/2010/main" val="17335748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970CE-FDEC-4E92-E8F6-A3D1A00C1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T" dirty="0"/>
              <a:t>customer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ACAAC2-B777-3DD2-AD48-C440F090F5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 dirty="0"/>
              <a:t>Mobile-money operator (</a:t>
            </a:r>
            <a:r>
              <a:rPr sz="1800" dirty="0" err="1"/>
              <a:t>PaySim</a:t>
            </a:r>
            <a:r>
              <a:rPr sz="1800" dirty="0"/>
              <a:t>-like synthetic profile)</a:t>
            </a:r>
          </a:p>
          <a:p>
            <a:r>
              <a:rPr sz="1800" dirty="0"/>
              <a:t>Operates customer-to-customer transfers, cash-in, cash-out, payments, debit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A27DF1-2037-AB3E-9747-A728CE44D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91DC-9B2A-DA46-8614-FC490D3FF29A}" type="slidenum">
              <a:rPr lang="en-US" smtClean="0"/>
              <a:t>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49A950-FBEE-1B3C-AC4D-4DB713F8C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IART @ L.EIC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96412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DCB54-7A9F-C7C6-433C-355A834E0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T" dirty="0"/>
              <a:t>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853A36-7E51-3C7C-9EE3-5B270D72C0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 dirty="0"/>
              <a:t>Fraudulent transactions in mobile-money transfers cause direct loss and erode trust</a:t>
            </a:r>
          </a:p>
          <a:p>
            <a:r>
              <a:rPr sz="1800" dirty="0"/>
              <a:t>Fraud rate ≈ 0.13% of all transactions </a:t>
            </a:r>
            <a:r>
              <a:rPr lang="en-US" sz="1800" dirty="0"/>
              <a:t>-</a:t>
            </a:r>
            <a:r>
              <a:rPr sz="1800" dirty="0"/>
              <a:t> strongly imbalanced</a:t>
            </a:r>
          </a:p>
          <a:p>
            <a:r>
              <a:rPr sz="1800" dirty="0"/>
              <a:t>Current approach: hand-tuned rules over balance/amount thresholds</a:t>
            </a:r>
          </a:p>
          <a:p>
            <a:pPr lvl="1"/>
            <a:r>
              <a:rPr sz="1400" dirty="0"/>
              <a:t>Misses novel patterns; rules drift out of date quickly</a:t>
            </a:r>
          </a:p>
          <a:p>
            <a:pPr lvl="1"/>
            <a:r>
              <a:rPr sz="1400" dirty="0"/>
              <a:t>Produces high false-positive load on the review team</a:t>
            </a:r>
          </a:p>
          <a:p>
            <a:r>
              <a:rPr sz="1800" dirty="0"/>
              <a:t>Goal: rank every transaction by fraud risk in near-real-time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9A3059-B1BD-D3FB-B86A-3BA4E9FA0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91DC-9B2A-DA46-8614-FC490D3FF29A}" type="slidenum">
              <a:rPr lang="en-US" smtClean="0"/>
              <a:t>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7EF15-F82E-7BC4-F9C0-A0C866B1C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IART @ L.EIC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86643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C9B77-200C-05A3-C3A2-3710962EE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T" dirty="0"/>
              <a:t>available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14D6B1-3115-4035-E5FE-A1BE13B8BA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 dirty="0"/>
              <a:t>Single transaction log (</a:t>
            </a:r>
            <a:r>
              <a:rPr sz="1800" dirty="0" err="1"/>
              <a:t>PaySim</a:t>
            </a:r>
            <a:r>
              <a:rPr sz="1800" dirty="0"/>
              <a:t> simulator, ~6.36M rows, 11 columns)</a:t>
            </a:r>
          </a:p>
          <a:p>
            <a:r>
              <a:rPr sz="1800" dirty="0"/>
              <a:t>Identifiers: </a:t>
            </a:r>
            <a:r>
              <a:rPr sz="1800" dirty="0" err="1"/>
              <a:t>nameOrig</a:t>
            </a:r>
            <a:r>
              <a:rPr sz="1800" dirty="0"/>
              <a:t>, </a:t>
            </a:r>
            <a:r>
              <a:rPr sz="1800" dirty="0" err="1"/>
              <a:t>nameDest</a:t>
            </a:r>
            <a:r>
              <a:rPr sz="1800" dirty="0"/>
              <a:t> (dropped</a:t>
            </a:r>
            <a:r>
              <a:rPr lang="en-US" sz="1800" dirty="0"/>
              <a:t> - </a:t>
            </a:r>
            <a:r>
              <a:rPr sz="1800" dirty="0"/>
              <a:t>non-predictive)</a:t>
            </a:r>
          </a:p>
          <a:p>
            <a:r>
              <a:rPr sz="1800" dirty="0"/>
              <a:t>Time: step (1 unit = 1 hour over a 30-day window)</a:t>
            </a:r>
          </a:p>
          <a:p>
            <a:r>
              <a:rPr sz="1800" dirty="0"/>
              <a:t>Transaction: type ∈ {CASH_IN, CASH_OUT, DEBIT, PAYMENT, TRANSFER}, amount</a:t>
            </a:r>
          </a:p>
          <a:p>
            <a:r>
              <a:rPr sz="1800" dirty="0"/>
              <a:t>Balances before/after for both parties (</a:t>
            </a:r>
            <a:r>
              <a:rPr sz="1800" dirty="0" err="1"/>
              <a:t>oldbalanceOrg</a:t>
            </a:r>
            <a:r>
              <a:rPr sz="1800" dirty="0"/>
              <a:t>, </a:t>
            </a:r>
            <a:r>
              <a:rPr sz="1800" dirty="0" err="1"/>
              <a:t>newbalanceOrig</a:t>
            </a:r>
            <a:r>
              <a:rPr sz="1800" dirty="0"/>
              <a:t>, </a:t>
            </a:r>
            <a:r>
              <a:rPr sz="1800" dirty="0" err="1"/>
              <a:t>oldbalanceDest</a:t>
            </a:r>
            <a:r>
              <a:rPr sz="1800" dirty="0"/>
              <a:t>, </a:t>
            </a:r>
            <a:r>
              <a:rPr sz="1800" dirty="0" err="1"/>
              <a:t>newbalanceDest</a:t>
            </a:r>
            <a:r>
              <a:rPr sz="1800" dirty="0"/>
              <a:t>)</a:t>
            </a:r>
          </a:p>
          <a:p>
            <a:r>
              <a:rPr sz="1800" dirty="0"/>
              <a:t>Labels: </a:t>
            </a:r>
            <a:r>
              <a:rPr sz="1800" dirty="0" err="1"/>
              <a:t>isFraud</a:t>
            </a:r>
            <a:r>
              <a:rPr sz="1800" dirty="0"/>
              <a:t> (target), </a:t>
            </a:r>
            <a:r>
              <a:rPr sz="1800" dirty="0" err="1"/>
              <a:t>isFlaggedFraud</a:t>
            </a:r>
            <a:r>
              <a:rPr sz="1800" dirty="0"/>
              <a:t> (legacy rule, discarded — unreliable)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9F9FCA-61A8-ABA8-6F53-C41BCD1AC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91DC-9B2A-DA46-8614-FC490D3FF29A}" type="slidenum">
              <a:rPr lang="en-US" smtClean="0"/>
              <a:t>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C14484-D6EC-2E5C-5551-962F7ABDB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IART @ L.EIC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5298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2D650-9867-C2E6-3486-38C1DF666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T" dirty="0"/>
              <a:t>solution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2FD194-E657-3A6A-43C5-1BCD9E7220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r>
              <a:rPr sz="1800" dirty="0"/>
              <a:t>Predictive scoring layer plugged into the existing review pipeline</a:t>
            </a:r>
          </a:p>
          <a:p>
            <a:r>
              <a:rPr sz="1800" dirty="0"/>
              <a:t>Components:</a:t>
            </a:r>
          </a:p>
          <a:p>
            <a:pPr lvl="1"/>
            <a:r>
              <a:rPr sz="1400" dirty="0"/>
              <a:t>Batch data prep </a:t>
            </a:r>
            <a:r>
              <a:rPr lang="en-US" sz="1400" dirty="0"/>
              <a:t>-</a:t>
            </a:r>
            <a:r>
              <a:rPr sz="1400" dirty="0"/>
              <a:t> clean, encode, temporal split, feature engineering</a:t>
            </a:r>
          </a:p>
          <a:p>
            <a:pPr lvl="1"/>
            <a:r>
              <a:rPr sz="1400" dirty="0"/>
              <a:t>Model service </a:t>
            </a:r>
            <a:r>
              <a:rPr lang="en-US" sz="1400" dirty="0"/>
              <a:t>-</a:t>
            </a:r>
            <a:r>
              <a:rPr sz="1400" dirty="0"/>
              <a:t> </a:t>
            </a:r>
            <a:r>
              <a:rPr sz="1400" dirty="0" err="1"/>
              <a:t>XGBoost</a:t>
            </a:r>
            <a:r>
              <a:rPr sz="1400" dirty="0"/>
              <a:t> classifier returning fraud probability</a:t>
            </a:r>
          </a:p>
          <a:p>
            <a:pPr lvl="1"/>
            <a:r>
              <a:rPr sz="1400" dirty="0"/>
              <a:t>Review console (out of scope) </a:t>
            </a:r>
            <a:r>
              <a:rPr lang="en-US" sz="1400" dirty="0"/>
              <a:t>-</a:t>
            </a:r>
            <a:r>
              <a:rPr sz="1400" dirty="0"/>
              <a:t> surfaces high-risk transactions to analyst</a:t>
            </a:r>
            <a:r>
              <a:rPr lang="en-US" sz="1400" dirty="0"/>
              <a:t>s</a:t>
            </a:r>
            <a:endParaRPr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5766D3-9E2F-2E67-C082-FC0ACBEB2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91DC-9B2A-DA46-8614-FC490D3FF29A}" type="slidenum">
              <a:rPr lang="en-US" smtClean="0"/>
              <a:t>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9BFB8-9687-5073-75B7-B3FF1BFA5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IART @ L.EIC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53370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34356-5B8F-4558-EEB3-1C6959DB8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T" dirty="0"/>
              <a:t>predictive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82A04B-D6C7-A5F6-EC51-5C4F06606E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 dirty="0"/>
              <a:t>Binary classifier </a:t>
            </a:r>
            <a:r>
              <a:rPr lang="en-US" sz="1800" dirty="0"/>
              <a:t>where </a:t>
            </a:r>
            <a:r>
              <a:rPr sz="1800" dirty="0"/>
              <a:t>target = </a:t>
            </a:r>
            <a:r>
              <a:rPr sz="1800" dirty="0" err="1"/>
              <a:t>isFraud</a:t>
            </a:r>
            <a:endParaRPr sz="1800" dirty="0"/>
          </a:p>
          <a:p>
            <a:r>
              <a:rPr sz="1800" dirty="0"/>
              <a:t>Algorithm: gradient-boosted trees (</a:t>
            </a:r>
            <a:r>
              <a:rPr sz="1800" dirty="0" err="1"/>
              <a:t>XGBoost</a:t>
            </a:r>
            <a:r>
              <a:rPr sz="1800" dirty="0"/>
              <a:t>, hist tree method)</a:t>
            </a:r>
          </a:p>
          <a:p>
            <a:r>
              <a:rPr sz="1800" dirty="0"/>
              <a:t>Raw inputs: step, type, amount, </a:t>
            </a:r>
            <a:r>
              <a:rPr sz="1800" dirty="0" err="1"/>
              <a:t>oldbalanceOrg</a:t>
            </a:r>
            <a:r>
              <a:rPr sz="1800" dirty="0"/>
              <a:t>, </a:t>
            </a:r>
            <a:r>
              <a:rPr sz="1800" dirty="0" err="1"/>
              <a:t>newbalanceOrig</a:t>
            </a:r>
            <a:r>
              <a:rPr sz="1800" dirty="0"/>
              <a:t>, </a:t>
            </a:r>
            <a:r>
              <a:rPr sz="1800" dirty="0" err="1"/>
              <a:t>oldbalanceDest</a:t>
            </a:r>
            <a:r>
              <a:rPr sz="1800" dirty="0"/>
              <a:t>, </a:t>
            </a:r>
            <a:r>
              <a:rPr sz="1800" dirty="0" err="1"/>
              <a:t>newbalanceDest</a:t>
            </a:r>
            <a:endParaRPr sz="1800" dirty="0"/>
          </a:p>
          <a:p>
            <a:r>
              <a:rPr sz="1800" dirty="0"/>
              <a:t>Engineered features:</a:t>
            </a:r>
          </a:p>
          <a:p>
            <a:pPr lvl="1"/>
            <a:r>
              <a:rPr sz="1400" dirty="0" err="1"/>
              <a:t>errorBalanceOrig</a:t>
            </a:r>
            <a:r>
              <a:rPr sz="1400" dirty="0"/>
              <a:t>, </a:t>
            </a:r>
            <a:r>
              <a:rPr sz="1400" dirty="0" err="1"/>
              <a:t>errorBalanceDest</a:t>
            </a:r>
            <a:r>
              <a:rPr sz="1400" dirty="0"/>
              <a:t> </a:t>
            </a:r>
            <a:r>
              <a:rPr lang="en-US" sz="1400" dirty="0"/>
              <a:t>-</a:t>
            </a:r>
            <a:r>
              <a:rPr sz="1400" dirty="0"/>
              <a:t> balance equation residuals (fraud signature)</a:t>
            </a:r>
          </a:p>
          <a:p>
            <a:pPr lvl="1"/>
            <a:r>
              <a:rPr sz="1400" dirty="0" err="1"/>
              <a:t>orig_zero_after</a:t>
            </a:r>
            <a:r>
              <a:rPr sz="1400" dirty="0"/>
              <a:t>, </a:t>
            </a:r>
            <a:r>
              <a:rPr sz="1400" dirty="0" err="1"/>
              <a:t>dest_zero_before</a:t>
            </a:r>
            <a:r>
              <a:rPr sz="1400" dirty="0"/>
              <a:t>, </a:t>
            </a:r>
            <a:r>
              <a:rPr sz="1400" dirty="0" err="1"/>
              <a:t>dest_zero_after</a:t>
            </a:r>
            <a:r>
              <a:rPr sz="1400" dirty="0"/>
              <a:t> </a:t>
            </a:r>
            <a:r>
              <a:rPr lang="en-US" sz="1400" dirty="0"/>
              <a:t>-</a:t>
            </a:r>
            <a:r>
              <a:rPr sz="1400" dirty="0"/>
              <a:t> empty-account flags</a:t>
            </a:r>
          </a:p>
          <a:p>
            <a:pPr lvl="1"/>
            <a:r>
              <a:rPr sz="1400" dirty="0" err="1"/>
              <a:t>hour_of_day</a:t>
            </a:r>
            <a:r>
              <a:rPr sz="1400" dirty="0"/>
              <a:t>, </a:t>
            </a:r>
            <a:r>
              <a:rPr sz="1400" dirty="0" err="1"/>
              <a:t>day_of_week</a:t>
            </a:r>
            <a:r>
              <a:rPr sz="1400" dirty="0"/>
              <a:t> </a:t>
            </a:r>
            <a:r>
              <a:rPr lang="en-US" sz="1400" dirty="0"/>
              <a:t>-</a:t>
            </a:r>
            <a:r>
              <a:rPr sz="1400" dirty="0"/>
              <a:t> derived from step</a:t>
            </a:r>
          </a:p>
          <a:p>
            <a:pPr lvl="1"/>
            <a:r>
              <a:rPr sz="1400" dirty="0" err="1"/>
              <a:t>amount_log</a:t>
            </a:r>
            <a:r>
              <a:rPr sz="1400" dirty="0"/>
              <a:t>, </a:t>
            </a:r>
            <a:r>
              <a:rPr sz="1400" dirty="0" err="1"/>
              <a:t>is_high_amount</a:t>
            </a:r>
            <a:r>
              <a:rPr sz="1400" dirty="0"/>
              <a:t> (≥ p99) </a:t>
            </a:r>
            <a:r>
              <a:rPr lang="en-US" sz="1400" dirty="0"/>
              <a:t>-</a:t>
            </a:r>
            <a:r>
              <a:rPr sz="1400" dirty="0"/>
              <a:t> amount transforms</a:t>
            </a:r>
          </a:p>
          <a:p>
            <a:pPr lvl="1"/>
            <a:r>
              <a:rPr sz="1400" dirty="0" err="1"/>
              <a:t>is_transfer_or_cashout</a:t>
            </a:r>
            <a:r>
              <a:rPr sz="1400" dirty="0"/>
              <a:t> </a:t>
            </a:r>
            <a:r>
              <a:rPr lang="en-US" sz="1400" dirty="0"/>
              <a:t>-</a:t>
            </a:r>
            <a:r>
              <a:rPr sz="1400" dirty="0"/>
              <a:t> fraud only occurs in these two types in </a:t>
            </a:r>
            <a:r>
              <a:rPr sz="1400" dirty="0" err="1"/>
              <a:t>PaySim</a:t>
            </a:r>
            <a:endParaRPr sz="1400" dirty="0"/>
          </a:p>
          <a:p>
            <a:r>
              <a:rPr sz="1800" dirty="0"/>
              <a:t>Stacked feature: Isolation-Forest anomaly score fit on labeled + unlabeled pool</a:t>
            </a:r>
          </a:p>
          <a:p>
            <a:r>
              <a:rPr sz="1800" dirty="0"/>
              <a:t>Class weighting: </a:t>
            </a:r>
            <a:r>
              <a:rPr sz="1800" dirty="0" err="1"/>
              <a:t>scale_pos_weight</a:t>
            </a:r>
            <a:r>
              <a:rPr sz="1800" dirty="0"/>
              <a:t> derived from labeled class ratio (not hardcoded)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009459-8901-5DAB-D626-C5D2A119E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91DC-9B2A-DA46-8614-FC490D3FF29A}" type="slidenum">
              <a:rPr lang="en-US" smtClean="0"/>
              <a:t>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078D78-9BA9-58F2-1DD2-E5AA90B2E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IART @ L.EIC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11841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5A6EA-5FEA-9B03-3BF6-6E775FD20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T" dirty="0"/>
              <a:t>empirical study: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C4A4F5-6F7E-54A8-1CAD-FF23811E01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 dirty="0"/>
              <a:t>Temporal split via `step` tail 20% → test, prior 10% → </a:t>
            </a:r>
            <a:r>
              <a:rPr sz="1800" dirty="0" err="1"/>
              <a:t>val</a:t>
            </a:r>
            <a:r>
              <a:rPr sz="1800" dirty="0"/>
              <a:t>, rest → train pool</a:t>
            </a:r>
          </a:p>
          <a:p>
            <a:pPr lvl="1"/>
            <a:r>
              <a:rPr sz="1400" dirty="0"/>
              <a:t>Reflects deployment reality: future is held out, not random rows</a:t>
            </a:r>
          </a:p>
          <a:p>
            <a:r>
              <a:rPr sz="1800" dirty="0"/>
              <a:t>Limited-label regime: 1,000 labeled per class kept, rest of train pool stripped of labels</a:t>
            </a:r>
          </a:p>
          <a:p>
            <a:r>
              <a:rPr sz="1800" dirty="0"/>
              <a:t>Preprocessing pipeline: </a:t>
            </a:r>
            <a:r>
              <a:rPr sz="1800" dirty="0" err="1"/>
              <a:t>OneHotEncoder</a:t>
            </a:r>
            <a:r>
              <a:rPr sz="1800" dirty="0"/>
              <a:t>(type) + </a:t>
            </a:r>
            <a:r>
              <a:rPr sz="1800" dirty="0" err="1"/>
              <a:t>StandardScaler</a:t>
            </a:r>
            <a:r>
              <a:rPr sz="1800" dirty="0"/>
              <a:t>(</a:t>
            </a:r>
            <a:r>
              <a:rPr sz="1800" dirty="0" err="1"/>
              <a:t>numerics</a:t>
            </a:r>
            <a:r>
              <a:rPr sz="1800" dirty="0"/>
              <a:t>), fit on labeled + unlabeled</a:t>
            </a:r>
          </a:p>
          <a:p>
            <a:r>
              <a:rPr sz="1800" dirty="0"/>
              <a:t>Isolation Forest fit on the joint labeled + unlabeled pool, contamination tied to fraud rate</a:t>
            </a:r>
          </a:p>
          <a:p>
            <a:r>
              <a:rPr sz="1800" dirty="0"/>
              <a:t>Model: </a:t>
            </a:r>
            <a:r>
              <a:rPr sz="1800" dirty="0" err="1"/>
              <a:t>XGBoost</a:t>
            </a:r>
            <a:r>
              <a:rPr sz="1800" dirty="0"/>
              <a:t> with class weighting; evaluated only on the held-out temporal tail</a:t>
            </a:r>
          </a:p>
          <a:p>
            <a:r>
              <a:rPr sz="1800" dirty="0"/>
              <a:t>Metrics: PR-AUC, average precision, ROC-AUC, </a:t>
            </a:r>
            <a:r>
              <a:rPr sz="1800" dirty="0" err="1"/>
              <a:t>recall@precision</a:t>
            </a:r>
            <a:r>
              <a:rPr sz="1800" dirty="0"/>
              <a:t>=0.9, plus precision / recall / F1 / confusion counts at threshold 0.5</a:t>
            </a:r>
          </a:p>
          <a:p>
            <a:r>
              <a:rPr sz="1800" dirty="0"/>
              <a:t>Justification: PR-AUC and </a:t>
            </a:r>
            <a:r>
              <a:rPr sz="1800" dirty="0" err="1"/>
              <a:t>recall@P</a:t>
            </a:r>
            <a:r>
              <a:rPr sz="1800" dirty="0"/>
              <a:t>=0.9 reflect the business cost of missed fraud under strong imbalance better than accuracy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EEA042-7F16-250D-904E-0D495DF72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91DC-9B2A-DA46-8614-FC490D3FF29A}" type="slidenum">
              <a:rPr lang="en-US" smtClean="0"/>
              <a:t>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C93020-01B6-6FA8-4274-2473F91F0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IART @ L.EIC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75391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A3F027-2243-4835-CC56-74F42BA70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8F023-90AF-93E8-0628-980DA4C82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T" dirty="0"/>
              <a:t>empirical study: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BAF63F-74CA-62FE-EEA3-52F343F8D4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 dirty="0"/>
              <a:t>Performance on the temporal test tail (~1.25M transactions, 4,250 fraud)</a:t>
            </a:r>
          </a:p>
          <a:p>
            <a:r>
              <a:rPr sz="1800" dirty="0"/>
              <a:t>PR-AUC: 0.9999   Average Precision: 0.9999   ROC-AUC: 1.0000</a:t>
            </a:r>
          </a:p>
          <a:p>
            <a:r>
              <a:rPr sz="1800" dirty="0" err="1"/>
              <a:t>Recall@Precision</a:t>
            </a:r>
            <a:r>
              <a:rPr sz="1800" dirty="0"/>
              <a:t>=0.9: 0.9995</a:t>
            </a:r>
          </a:p>
          <a:p>
            <a:r>
              <a:rPr sz="1800" dirty="0"/>
              <a:t>Threshold 0.5 </a:t>
            </a:r>
            <a:r>
              <a:rPr lang="en-US" sz="1800" dirty="0"/>
              <a:t>-</a:t>
            </a:r>
            <a:r>
              <a:rPr sz="1800" dirty="0"/>
              <a:t> Precision 0.9960 · Recall 0.9988 · F1 0.9974</a:t>
            </a:r>
          </a:p>
          <a:p>
            <a:r>
              <a:rPr sz="1800" dirty="0"/>
              <a:t>Confusion: TP 4245 · FN 5 · FP 17 · TN 1,244,469</a:t>
            </a:r>
            <a:endParaRPr lang="en-US" sz="1800" dirty="0"/>
          </a:p>
          <a:p>
            <a:r>
              <a:rPr lang="en-US" sz="1800" dirty="0"/>
              <a:t>Comparison: a self-trained variant (pseudo-labels on the unlabeled pool) was tested and dropped — it degraded PR-AUC (0.995) and inflated false positives without recovering recall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047D20-CB05-C73F-9F63-E8C4D7083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91DC-9B2A-DA46-8614-FC490D3FF29A}" type="slidenum">
              <a:rPr lang="en-US" smtClean="0"/>
              <a:t>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3B9EAB-B341-E2BE-FB7B-C03748A46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IART @ L.EIC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77647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dirty="0"/>
              <a:t>precision-recall curve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63040"/>
            <a:ext cx="4114800" cy="4572000"/>
          </a:xfrm>
        </p:spPr>
        <p:txBody>
          <a:bodyPr wrap="square"/>
          <a:lstStyle/>
          <a:p>
            <a:r>
              <a:rPr sz="1400" dirty="0"/>
              <a:t>PR curve </a:t>
            </a:r>
            <a:r>
              <a:rPr lang="en-US" sz="1400" dirty="0"/>
              <a:t>is</a:t>
            </a:r>
            <a:r>
              <a:rPr sz="1400" dirty="0"/>
              <a:t> preferred over ROC under extreme class imbalance</a:t>
            </a:r>
          </a:p>
          <a:p>
            <a:r>
              <a:rPr sz="1400" dirty="0"/>
              <a:t>Area under PR ≈ 1.0 → model holds high precision across virtually all recall levels</a:t>
            </a:r>
          </a:p>
        </p:txBody>
      </p:sp>
      <p:pic>
        <p:nvPicPr>
          <p:cNvPr id="4" name="Picture 3" descr="pr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7820" y="2883159"/>
            <a:ext cx="4488359" cy="371490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dirty="0"/>
              <a:t>roc curve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63040"/>
            <a:ext cx="4114800" cy="4572000"/>
          </a:xfrm>
        </p:spPr>
        <p:txBody>
          <a:bodyPr wrap="square"/>
          <a:lstStyle/>
          <a:p>
            <a:r>
              <a:rPr sz="1400" dirty="0"/>
              <a:t>ROC stays near the top-left corner </a:t>
            </a:r>
            <a:r>
              <a:rPr lang="en-US" sz="1400" dirty="0"/>
              <a:t>-</a:t>
            </a:r>
            <a:r>
              <a:rPr sz="1400" dirty="0"/>
              <a:t> separability is essentially perfect on this synthetic dataset</a:t>
            </a:r>
          </a:p>
          <a:p>
            <a:r>
              <a:rPr sz="1400" dirty="0"/>
              <a:t>ROC-AUC ≈ 1.0; reported for completeness but PR-AUC is the load-bearing metric here</a:t>
            </a:r>
          </a:p>
        </p:txBody>
      </p:sp>
      <p:pic>
        <p:nvPicPr>
          <p:cNvPr id="4" name="Picture 3" descr="roc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9808" y="2528596"/>
            <a:ext cx="4984383" cy="412545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dirty="0"/>
              <a:t>feature importance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63040"/>
            <a:ext cx="4114800" cy="4572000"/>
          </a:xfrm>
        </p:spPr>
        <p:txBody>
          <a:bodyPr wrap="square"/>
          <a:lstStyle/>
          <a:p>
            <a:r>
              <a:rPr sz="1400" dirty="0"/>
              <a:t>Top 15 features by </a:t>
            </a:r>
            <a:r>
              <a:rPr sz="1400" dirty="0" err="1"/>
              <a:t>XGBoost</a:t>
            </a:r>
            <a:r>
              <a:rPr sz="1400" dirty="0"/>
              <a:t> gain</a:t>
            </a:r>
          </a:p>
          <a:p>
            <a:r>
              <a:rPr sz="1400" dirty="0"/>
              <a:t>Engineered balance-error features dominate raw balances </a:t>
            </a:r>
            <a:r>
              <a:rPr lang="en-US" sz="1400" dirty="0"/>
              <a:t>-</a:t>
            </a:r>
            <a:r>
              <a:rPr sz="1400" dirty="0"/>
              <a:t> confirms the EDA hypothesis</a:t>
            </a:r>
          </a:p>
          <a:p>
            <a:r>
              <a:rPr sz="1400" dirty="0"/>
              <a:t>Isolation-Forest score (</a:t>
            </a:r>
            <a:r>
              <a:rPr sz="1400" dirty="0" err="1"/>
              <a:t>if_score</a:t>
            </a:r>
            <a:r>
              <a:rPr sz="1400" dirty="0"/>
              <a:t>) contributes meaningfully despite being unsupervised</a:t>
            </a:r>
          </a:p>
        </p:txBody>
      </p:sp>
      <p:pic>
        <p:nvPicPr>
          <p:cNvPr id="4" name="Picture 3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2420" y="2780523"/>
            <a:ext cx="5548441" cy="39216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dirty="0"/>
              <a:t>score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63040"/>
            <a:ext cx="4114800" cy="4572000"/>
          </a:xfrm>
        </p:spPr>
        <p:txBody>
          <a:bodyPr wrap="square"/>
          <a:lstStyle/>
          <a:p>
            <a:r>
              <a:rPr sz="1400" dirty="0"/>
              <a:t>Predicted probability histograms by true class (log y-axis)</a:t>
            </a:r>
          </a:p>
          <a:p>
            <a:r>
              <a:rPr sz="1400" dirty="0"/>
              <a:t>Legit mass concentrates near 0, fraud near 1</a:t>
            </a:r>
            <a:r>
              <a:rPr lang="en-US" sz="1400" dirty="0"/>
              <a:t>, there is</a:t>
            </a:r>
            <a:r>
              <a:rPr sz="1400" dirty="0"/>
              <a:t> clean separation</a:t>
            </a:r>
          </a:p>
          <a:p>
            <a:r>
              <a:rPr sz="1400" dirty="0"/>
              <a:t>Long thin tails are where threshold choice actually matters</a:t>
            </a:r>
          </a:p>
        </p:txBody>
      </p:sp>
      <p:pic>
        <p:nvPicPr>
          <p:cNvPr id="4" name="Picture 3" descr="score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9368" y="3044920"/>
            <a:ext cx="5725263" cy="363579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6940861" cy="1278217"/>
          </a:xfrm>
        </p:spPr>
        <p:txBody>
          <a:bodyPr/>
          <a:lstStyle/>
          <a:p>
            <a:r>
              <a:rPr dirty="0"/>
              <a:t>model interpretation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880" y="1828800"/>
            <a:ext cx="5029200" cy="3769567"/>
          </a:xfrm>
        </p:spPr>
        <p:txBody>
          <a:bodyPr wrap="square">
            <a:normAutofit/>
          </a:bodyPr>
          <a:lstStyle/>
          <a:p>
            <a:r>
              <a:rPr sz="1800" dirty="0"/>
              <a:t>Top contributing features (by </a:t>
            </a:r>
            <a:r>
              <a:rPr sz="1800" dirty="0" err="1"/>
              <a:t>XGBoost</a:t>
            </a:r>
            <a:r>
              <a:rPr sz="1800" dirty="0"/>
              <a:t> gain and SHAP):</a:t>
            </a:r>
          </a:p>
          <a:p>
            <a:pPr lvl="1"/>
            <a:r>
              <a:rPr sz="1400" dirty="0" err="1"/>
              <a:t>errorBalanceOrig</a:t>
            </a:r>
            <a:r>
              <a:rPr sz="1400" dirty="0"/>
              <a:t> </a:t>
            </a:r>
            <a:r>
              <a:rPr lang="en-US" sz="1400" dirty="0"/>
              <a:t>-</a:t>
            </a:r>
            <a:r>
              <a:rPr sz="1400" dirty="0"/>
              <a:t> strongest single signal (post-transaction balance break)</a:t>
            </a:r>
          </a:p>
          <a:p>
            <a:pPr lvl="1"/>
            <a:r>
              <a:rPr sz="1400" dirty="0" err="1"/>
              <a:t>errorBalanceDest</a:t>
            </a:r>
            <a:r>
              <a:rPr sz="1400" dirty="0"/>
              <a:t> </a:t>
            </a:r>
            <a:r>
              <a:rPr lang="en-US" sz="1400" dirty="0"/>
              <a:t>-</a:t>
            </a:r>
            <a:r>
              <a:rPr sz="1400" dirty="0"/>
              <a:t> mirrors fraudulent destination </a:t>
            </a:r>
            <a:r>
              <a:rPr sz="1400" dirty="0" err="1"/>
              <a:t>behaviour</a:t>
            </a:r>
            <a:endParaRPr sz="1400" dirty="0"/>
          </a:p>
          <a:p>
            <a:pPr lvl="1"/>
            <a:r>
              <a:rPr sz="1400" dirty="0"/>
              <a:t>amount / </a:t>
            </a:r>
            <a:r>
              <a:rPr sz="1400" dirty="0" err="1"/>
              <a:t>amount_log</a:t>
            </a:r>
            <a:r>
              <a:rPr sz="1400" dirty="0"/>
              <a:t> </a:t>
            </a:r>
            <a:r>
              <a:rPr lang="en-US" sz="1400" dirty="0"/>
              <a:t>-</a:t>
            </a:r>
            <a:r>
              <a:rPr sz="1400" dirty="0"/>
              <a:t> high-value transfers carry elevated risk</a:t>
            </a:r>
          </a:p>
          <a:p>
            <a:pPr lvl="1"/>
            <a:r>
              <a:rPr sz="1400" dirty="0" err="1"/>
              <a:t>is_transfer_or_cashout</a:t>
            </a:r>
            <a:r>
              <a:rPr sz="1400" dirty="0"/>
              <a:t> </a:t>
            </a:r>
            <a:r>
              <a:rPr lang="en-US" sz="1400" dirty="0"/>
              <a:t>-</a:t>
            </a:r>
            <a:r>
              <a:rPr sz="1400" dirty="0"/>
              <a:t> fraud restricted to these types in the source data</a:t>
            </a:r>
          </a:p>
          <a:p>
            <a:pPr lvl="1"/>
            <a:r>
              <a:rPr sz="1400" dirty="0" err="1"/>
              <a:t>if_score</a:t>
            </a:r>
            <a:r>
              <a:rPr sz="1400" dirty="0"/>
              <a:t> (Isolation-Forest anomaly) </a:t>
            </a:r>
            <a:r>
              <a:rPr lang="en-US" sz="1400" dirty="0"/>
              <a:t>-</a:t>
            </a:r>
            <a:r>
              <a:rPr sz="1400" dirty="0"/>
              <a:t> adds unsupervised signal at low cost</a:t>
            </a:r>
          </a:p>
          <a:p>
            <a:r>
              <a:rPr sz="1800" dirty="0"/>
              <a:t>SHAP confirms the engineered balance-error features dominate over raw balances</a:t>
            </a:r>
          </a:p>
        </p:txBody>
      </p:sp>
      <p:pic>
        <p:nvPicPr>
          <p:cNvPr id="4" name="Picture 3" descr="shap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828800"/>
            <a:ext cx="3474720" cy="413517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DED63-CEF5-934E-640B-EE9478E86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T" dirty="0"/>
              <a:t>stakeholders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B68144-933A-0D11-A18B-41E15D1492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 dirty="0"/>
              <a:t>Fraud Operations Lead </a:t>
            </a:r>
            <a:r>
              <a:rPr lang="en-US" sz="1800" dirty="0"/>
              <a:t>-</a:t>
            </a:r>
            <a:r>
              <a:rPr sz="1800" dirty="0"/>
              <a:t> owns thresholds, alert capacity, policy escalation</a:t>
            </a:r>
          </a:p>
          <a:p>
            <a:r>
              <a:rPr sz="1800" dirty="0"/>
              <a:t>ML Engineer </a:t>
            </a:r>
            <a:r>
              <a:rPr lang="en-US" sz="1800" dirty="0"/>
              <a:t>-</a:t>
            </a:r>
            <a:r>
              <a:rPr sz="1800" dirty="0"/>
              <a:t> trains, monitors and retrains the model</a:t>
            </a:r>
          </a:p>
          <a:p>
            <a:r>
              <a:rPr sz="1800" dirty="0"/>
              <a:t>Data Engineer </a:t>
            </a:r>
            <a:r>
              <a:rPr lang="en-US" sz="1800" dirty="0"/>
              <a:t>-</a:t>
            </a:r>
            <a:r>
              <a:rPr sz="1800" dirty="0"/>
              <a:t> owns the transaction pipeline and feature freshness</a:t>
            </a:r>
          </a:p>
          <a:p>
            <a:r>
              <a:rPr sz="1800" dirty="0"/>
              <a:t>Compliance / Legal Officer </a:t>
            </a:r>
            <a:r>
              <a:rPr lang="en-US" sz="1800" dirty="0"/>
              <a:t>-</a:t>
            </a:r>
            <a:r>
              <a:rPr sz="1800" dirty="0"/>
              <a:t> reviewability, GDPR, right-to-explanation</a:t>
            </a:r>
          </a:p>
          <a:p>
            <a:r>
              <a:rPr sz="1800" dirty="0"/>
              <a:t>Customer Support </a:t>
            </a:r>
            <a:r>
              <a:rPr lang="en-US" sz="1800" dirty="0"/>
              <a:t>-</a:t>
            </a:r>
            <a:r>
              <a:rPr sz="1800" dirty="0"/>
              <a:t> handles disputes and false-positive freezes</a:t>
            </a:r>
          </a:p>
          <a:p>
            <a:r>
              <a:rPr sz="1800" dirty="0"/>
              <a:t>End customers </a:t>
            </a:r>
            <a:r>
              <a:rPr lang="en-US" sz="1800" dirty="0"/>
              <a:t>-</a:t>
            </a:r>
            <a:r>
              <a:rPr sz="1800" dirty="0"/>
              <a:t> affected by both fraud losses and false freezes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6D6757-7584-CB42-EE07-01C8562F9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91DC-9B2A-DA46-8614-FC490D3FF29A}" type="slidenum">
              <a:rPr lang="en-US" smtClean="0"/>
              <a:t>14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C4C13E-6F0B-83CE-B798-6E50ECE22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IART @ L.EIC</a:t>
            </a:r>
          </a:p>
        </p:txBody>
      </p:sp>
    </p:spTree>
    <p:extLst>
      <p:ext uri="{BB962C8B-B14F-4D97-AF65-F5344CB8AC3E}">
        <p14:creationId xmlns:p14="http://schemas.microsoft.com/office/powerpoint/2010/main" val="17154059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982E4-7D46-ED0F-A0AD-AF17554EC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PT" dirty="0"/>
              <a:t>expected challenges during development and deployment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3ABCF5-7DDD-3EE1-903F-E3F2BFF40E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 dirty="0"/>
              <a:t>Technical</a:t>
            </a:r>
          </a:p>
          <a:p>
            <a:pPr lvl="1"/>
            <a:r>
              <a:rPr sz="1400" dirty="0"/>
              <a:t>Extreme class imbalance (~0.13% positive) </a:t>
            </a:r>
            <a:r>
              <a:rPr lang="en-US" sz="1400" dirty="0"/>
              <a:t>-</a:t>
            </a:r>
            <a:r>
              <a:rPr sz="1400" dirty="0"/>
              <a:t> naive metrics misleading</a:t>
            </a:r>
          </a:p>
          <a:p>
            <a:pPr lvl="1"/>
            <a:r>
              <a:rPr sz="1400" dirty="0"/>
              <a:t>Concept drift </a:t>
            </a:r>
            <a:r>
              <a:rPr lang="en-US" sz="1400" dirty="0"/>
              <a:t>-</a:t>
            </a:r>
            <a:r>
              <a:rPr sz="1400" dirty="0"/>
              <a:t> attack patterns mutate, retraining cadence required</a:t>
            </a:r>
          </a:p>
          <a:p>
            <a:pPr lvl="1"/>
            <a:r>
              <a:rPr sz="1400" dirty="0"/>
              <a:t>Label scarcity in real settings </a:t>
            </a:r>
            <a:r>
              <a:rPr lang="en-US" sz="1400" dirty="0"/>
              <a:t>--</a:t>
            </a:r>
            <a:r>
              <a:rPr sz="1400" dirty="0"/>
              <a:t> confirmed fraud often arrives weeks late</a:t>
            </a:r>
          </a:p>
          <a:p>
            <a:pPr lvl="1"/>
            <a:r>
              <a:rPr sz="1400" dirty="0"/>
              <a:t>Probability calibration </a:t>
            </a:r>
            <a:r>
              <a:rPr lang="en-US" sz="1400" dirty="0"/>
              <a:t>-</a:t>
            </a:r>
            <a:r>
              <a:rPr sz="1400" dirty="0"/>
              <a:t> required when </a:t>
            </a:r>
            <a:r>
              <a:rPr sz="1400" dirty="0" err="1"/>
              <a:t>scale_pos_weight</a:t>
            </a:r>
            <a:r>
              <a:rPr sz="1400" dirty="0"/>
              <a:t> is used</a:t>
            </a:r>
          </a:p>
          <a:p>
            <a:r>
              <a:rPr sz="1800" dirty="0"/>
              <a:t>Organizational</a:t>
            </a:r>
          </a:p>
          <a:p>
            <a:pPr lvl="1"/>
            <a:r>
              <a:rPr sz="1400" dirty="0"/>
              <a:t>Trust in opaque ML scores vs. existing deterministic rules</a:t>
            </a:r>
          </a:p>
          <a:p>
            <a:pPr lvl="1"/>
            <a:r>
              <a:rPr sz="1400" dirty="0"/>
              <a:t>Alert fatigue if precision is not held above the analyst-capacity threshold</a:t>
            </a:r>
          </a:p>
          <a:p>
            <a:pPr lvl="1"/>
            <a:r>
              <a:rPr sz="1400" dirty="0"/>
              <a:t>Cross-team coordination between fraud ops, data and legal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A49403-0050-F998-D870-75DABA10A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91DC-9B2A-DA46-8614-FC490D3FF29A}" type="slidenum">
              <a:rPr lang="en-US" smtClean="0"/>
              <a:t>15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FD84E8-7699-3009-67D9-328885C21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IART @ L.EIC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43306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BFBCE-ED83-AC6F-BD51-40E4FD1B3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T" dirty="0"/>
              <a:t>unavailable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AE032-E937-8CC4-459D-17DECB994E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 dirty="0"/>
              <a:t>Device and session signals </a:t>
            </a:r>
            <a:r>
              <a:rPr lang="en-US" sz="1800" dirty="0"/>
              <a:t>-</a:t>
            </a:r>
            <a:r>
              <a:rPr sz="1800" dirty="0"/>
              <a:t> IP, device fingerprint, geolocation</a:t>
            </a:r>
          </a:p>
          <a:p>
            <a:r>
              <a:rPr sz="1800" dirty="0"/>
              <a:t>Account history </a:t>
            </a:r>
            <a:r>
              <a:rPr lang="en-US" sz="1800" dirty="0"/>
              <a:t>-</a:t>
            </a:r>
            <a:r>
              <a:rPr sz="1800" dirty="0"/>
              <a:t> age, KYC tier, prior chargebacks, recent disputes</a:t>
            </a:r>
          </a:p>
          <a:p>
            <a:r>
              <a:rPr sz="1800" dirty="0"/>
              <a:t>Counterparty graph </a:t>
            </a:r>
            <a:r>
              <a:rPr lang="en-US" sz="1800" dirty="0"/>
              <a:t>-</a:t>
            </a:r>
            <a:r>
              <a:rPr sz="1800" dirty="0"/>
              <a:t> repeated recipients, mule-account proximity</a:t>
            </a:r>
          </a:p>
          <a:p>
            <a:r>
              <a:rPr sz="1800" dirty="0"/>
              <a:t>Customer </a:t>
            </a:r>
            <a:r>
              <a:rPr sz="1800" dirty="0" err="1"/>
              <a:t>demographicsCollection</a:t>
            </a:r>
            <a:r>
              <a:rPr sz="1800" dirty="0"/>
              <a:t> challenges:</a:t>
            </a:r>
          </a:p>
          <a:p>
            <a:pPr lvl="1"/>
            <a:r>
              <a:rPr sz="1400" dirty="0"/>
              <a:t>Privacy and regulatory constraints (GDPR, data </a:t>
            </a:r>
            <a:r>
              <a:rPr sz="1400" dirty="0" err="1"/>
              <a:t>minimisation</a:t>
            </a:r>
            <a:r>
              <a:rPr sz="1400" dirty="0"/>
              <a:t>)</a:t>
            </a:r>
          </a:p>
          <a:p>
            <a:pPr lvl="1"/>
            <a:r>
              <a:rPr sz="1400" dirty="0"/>
              <a:t>Integration with KYC / device-intel vendors</a:t>
            </a:r>
          </a:p>
          <a:p>
            <a:pPr lvl="1"/>
            <a:r>
              <a:rPr sz="1400" dirty="0"/>
              <a:t>Late-arriving labels </a:t>
            </a:r>
            <a:r>
              <a:rPr lang="en-US" sz="1400" dirty="0"/>
              <a:t>-</a:t>
            </a:r>
            <a:r>
              <a:rPr sz="1400" dirty="0"/>
              <a:t> confirmed fraud takes weeks to settle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94D675-38F4-1062-A0F4-F683C825C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91DC-9B2A-DA46-8614-FC490D3FF29A}" type="slidenum">
              <a:rPr lang="en-US" smtClean="0"/>
              <a:t>16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5F9AA4-A5FF-BC1C-9E4D-F7F9CF6B2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IART @ L.EIC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15084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63A40-A220-5004-7B97-603C5772B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T" dirty="0"/>
              <a:t>ethical risks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C6F44C-762F-7C16-EEC5-07FBD4AB9B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 dirty="0"/>
              <a:t>False positives can freeze legitimate accounts </a:t>
            </a:r>
            <a:r>
              <a:rPr lang="en-US" sz="1800" dirty="0"/>
              <a:t>-</a:t>
            </a:r>
            <a:r>
              <a:rPr sz="1800" dirty="0"/>
              <a:t> disproportionate harm to vulnerable users</a:t>
            </a:r>
          </a:p>
          <a:p>
            <a:r>
              <a:rPr sz="1800" dirty="0"/>
              <a:t>Opacity of gradient boosting limits the customer's ability to contest a decision</a:t>
            </a:r>
          </a:p>
          <a:p>
            <a:r>
              <a:rPr sz="1800" dirty="0"/>
              <a:t>Risk of bias if proxy features correlate with protected attributes (e.g. </a:t>
            </a:r>
            <a:r>
              <a:rPr sz="1800" dirty="0" err="1"/>
              <a:t>neighbourhood</a:t>
            </a:r>
            <a:r>
              <a:rPr sz="1800" dirty="0"/>
              <a:t>, device)</a:t>
            </a:r>
          </a:p>
          <a:p>
            <a:r>
              <a:rPr sz="1800" dirty="0"/>
              <a:t>Data </a:t>
            </a:r>
            <a:r>
              <a:rPr sz="1800" dirty="0" err="1"/>
              <a:t>minimisation</a:t>
            </a:r>
            <a:r>
              <a:rPr sz="1800" dirty="0"/>
              <a:t> </a:t>
            </a:r>
            <a:r>
              <a:rPr lang="en-US" sz="1800" dirty="0"/>
              <a:t>-</a:t>
            </a:r>
            <a:r>
              <a:rPr sz="1800" dirty="0"/>
              <a:t> only collect what is necessary; resist scope creep into surveillance</a:t>
            </a:r>
          </a:p>
          <a:p>
            <a:r>
              <a:rPr sz="1800" dirty="0"/>
              <a:t>Mitigations: SHAP-based explanations, human review on all blocking actions, periodic fairness audits, calibrated thresholds tied to analyst capacity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78AB8E-B472-EE14-5613-838060115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91DC-9B2A-DA46-8614-FC490D3FF29A}" type="slidenum">
              <a:rPr lang="en-US" smtClean="0"/>
              <a:t>17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A32F18-BCD7-598E-0909-B8CFF27DA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IART @ L.EIC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6229600"/>
      </p:ext>
    </p:extLst>
  </p:cSld>
  <p:clrMapOvr>
    <a:masterClrMapping/>
  </p:clrMapOvr>
</p:sld>
</file>

<file path=ppt/theme/theme1.xml><?xml version="1.0" encoding="utf-8"?>
<a:theme xmlns:a="http://schemas.openxmlformats.org/drawingml/2006/main" name="FEUP - aula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FEUP - aulas.potx</Template>
  <TotalTime>9790</TotalTime>
  <Words>1180</Words>
  <Application>Microsoft Office PowerPoint</Application>
  <PresentationFormat>On-screen Show (4:3)</PresentationFormat>
  <Paragraphs>132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Noto Sans Symbols</vt:lpstr>
      <vt:lpstr>Verdana</vt:lpstr>
      <vt:lpstr>FEUP - aulas</vt:lpstr>
      <vt:lpstr>projet 2 L.EIC – IART</vt:lpstr>
      <vt:lpstr>customer</vt:lpstr>
      <vt:lpstr>problem</vt:lpstr>
      <vt:lpstr>available data</vt:lpstr>
      <vt:lpstr>solution overview</vt:lpstr>
      <vt:lpstr>predictive model</vt:lpstr>
      <vt:lpstr>empirical study: setup</vt:lpstr>
      <vt:lpstr>empirical study: results</vt:lpstr>
      <vt:lpstr>precision-recall curve</vt:lpstr>
      <vt:lpstr>roc curve</vt:lpstr>
      <vt:lpstr>feature importance</vt:lpstr>
      <vt:lpstr>score distribution</vt:lpstr>
      <vt:lpstr>model interpretation</vt:lpstr>
      <vt:lpstr>stakeholders</vt:lpstr>
      <vt:lpstr>expected challenges during development and deployment</vt:lpstr>
      <vt:lpstr>unavailable data</vt:lpstr>
      <vt:lpstr>ethical risks</vt:lpstr>
    </vt:vector>
  </TitlesOfParts>
  <Company>Universidade do Porto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Carlos Soares</dc:creator>
  <cp:lastModifiedBy>Deniz Lopes Günes</cp:lastModifiedBy>
  <cp:revision>276</cp:revision>
  <cp:lastPrinted>2025-12-10T00:32:54Z</cp:lastPrinted>
  <dcterms:created xsi:type="dcterms:W3CDTF">2012-09-12T17:30:14Z</dcterms:created>
  <dcterms:modified xsi:type="dcterms:W3CDTF">2026-05-14T17:55:01Z</dcterms:modified>
</cp:coreProperties>
</file>